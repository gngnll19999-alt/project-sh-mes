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766560" y="0"/>
            <a:ext cx="5422392" cy="6858000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A9A5"/>
                </a:solidFill>
                <a:latin typeface="맑은 고딕"/>
              </a:rPr>
              <a:t>SH-MES  제조실행시스템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E4EAF2"/>
                </a:solidFill>
                <a:latin typeface="맑은 고딕"/>
              </a:rPr>
              <a:t>현장에서 벌어진 일이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E4EAF2"/>
                </a:solidFill>
                <a:latin typeface="맑은 고딕"/>
              </a:rPr>
              <a:t>기록으로 남는 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24528"/>
            <a:ext cx="914400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8794A6"/>
                </a:solidFill>
                <a:latin typeface="맑은 고딕"/>
              </a:rPr>
              <a:t>개인 프로젝트 · 제조실행시스템 설계 및 구현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794A6"/>
                </a:solidFill>
                <a:latin typeface="맑은 고딕"/>
              </a:rPr>
              <a:t>MESA-11 · ISA-95 Level 3 · ISA-88 Batch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377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프로젝트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377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4EAF2"/>
                </a:solidFill>
                <a:latin typeface="맑은 고딕"/>
              </a:rPr>
              <a:t>프로젝트SH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7980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798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4EAF2"/>
                </a:solidFill>
                <a:latin typeface="맑은 고딕"/>
              </a:rPr>
              <a:t>개인 프로젝트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186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만든 사람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4EAF2"/>
                </a:solidFill>
                <a:latin typeface="맑은 고딕"/>
              </a:rPr>
              <a:t>남성흠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393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6393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4EAF2"/>
                </a:solidFill>
                <a:latin typeface="맑은 고딕"/>
              </a:rPr>
              <a:t>2026-07-01 ~ 10-31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0599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진척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0599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4EAF2"/>
                </a:solidFill>
                <a:latin typeface="맑은 고딕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480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문서번호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44805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4EAF2"/>
                </a:solidFill>
                <a:latin typeface="맑은 고딕"/>
              </a:rPr>
              <a:t>SH-MES-RPT-2026-001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00200"/>
            <a:ext cx="10881360" cy="566928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A9A5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1907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과제 배경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74650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무엇이 문제였나 — 끊어진 데이터 흐름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13432"/>
            <a:ext cx="10881360" cy="566928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50592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A9A5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4323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사전조사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459736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국내외 벤치마킹 100건과 설계 반영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26664"/>
            <a:ext cx="10881360" cy="566928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63824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A9A5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14553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시스템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172968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ISA-95 계층과 9개 업무 화면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739896"/>
            <a:ext cx="10881360" cy="566928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77056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A9A5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5876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주요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8862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POP · OEE · SPC · 배치 · LOT 추적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453128"/>
            <a:ext cx="10881360" cy="566928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59028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A9A5"/>
                </a:solidFill>
                <a:latin typeface="Consola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5720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기대 효과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599432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측정 가능한 목표와 잔여 과제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00A9A5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4EAF2"/>
                </a:solidFill>
                <a:latin typeface="맑은 고딕"/>
              </a:rPr>
              <a:t>과제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794A6"/>
                </a:solidFill>
                <a:latin typeface="맑은 고딕"/>
              </a:rPr>
              <a:t>기능이 없어서가 아니라, 데이터가 안 흘러서 생긴 문제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현행 MES 의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2018년 구축본 · 요청 건마다 화면을 덧붙여 온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490874" cy="196596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3490874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문제 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배합 라인이 시스템 밖에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423160"/>
            <a:ext cx="308853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화학 배합 공정은 아직 엑셀 배합지시서로 돌아간다.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투입 원료와 완제품 사이의 연결이 끊겨 LOT 추적이 성립하지 않는다.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0410" y="1691640"/>
            <a:ext cx="3490874" cy="196596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0410" y="1691640"/>
            <a:ext cx="3490874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1578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문제 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1578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OEE 를 월말에 손으로 집계한다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2423160"/>
            <a:ext cx="308853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생산팀이 월말에 수기로 계산한다. 실시간 지표가 없으니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설비 손실을 발견했을 때는 이미 한 달이 지나 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2452" y="1691640"/>
            <a:ext cx="3490874" cy="196596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2452" y="1691640"/>
            <a:ext cx="3490874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3620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문제 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3620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실적을 세 군데서 입력한다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3620" y="2423160"/>
            <a:ext cx="308853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현장 단말, 생산일보, ERP 에 같은 숫자를 세 번 넣는다.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세 숫자가 다르면 어느 것이 맞는지 아무도 모른다.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36576" cy="91440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069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4EAF2"/>
                </a:solidFill>
                <a:latin typeface="맑은 고딕"/>
              </a:rPr>
              <a:t>고객사 품질감사가 오면 정·역방향 추적 자료를 2~3일에 걸쳐 수작업으로 만듭니다.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4EAF2"/>
                </a:solidFill>
                <a:latin typeface="맑은 고딕"/>
              </a:rPr>
              <a:t>그때마다 생산팀 2명이 다른 일을 못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78231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— 국내 MES 도입 사례에서 반복적으로 나오는 문제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00A9A5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4EAF2"/>
                </a:solidFill>
                <a:latin typeface="맑은 고딕"/>
              </a:rPr>
              <a:t>사전조사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794A6"/>
                </a:solidFill>
                <a:latin typeface="맑은 고딕"/>
              </a:rPr>
              <a:t>무엇을 만들지 우리 머리로 정하지 않기 위해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조사 대상과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2026-06-30 ~ 07-14 · 총 100건 항목화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737360"/>
            <a:ext cx="2567863" cy="182880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567863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2024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57984"/>
            <a:ext cx="2165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국제 기능표준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468880"/>
            <a:ext cx="2165527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MESA-11 (11대 기능모델)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ISA-95 / IEC 62264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ISA-88 (배치 제어)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ISA-101 · ISA-18.2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7399" y="1737360"/>
            <a:ext cx="2567863" cy="182880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7399" y="1737360"/>
            <a:ext cx="2567863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567" y="192024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2/4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8567" y="2157984"/>
            <a:ext cx="2165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글로벌 패키지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8567" y="2468880"/>
            <a:ext cx="2165527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SAP S/4HANA (FI·CO·SD·MM·PP·QM·PM)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Siemens Opcenter Execution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Rockwell Plex MES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AVEVA · Ignition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0" y="1737360"/>
            <a:ext cx="2567863" cy="182880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0" y="1737360"/>
            <a:ext cx="2567863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8" y="192024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3/4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8" y="2157984"/>
            <a:ext cx="2165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국내 패키지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7598" y="2468880"/>
            <a:ext cx="2165527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더존 iCUBE / WEHAGO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영림원 K-System Ace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미라콤 Nexplant MESplus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삼성SDS Nexplant · LG CNS Factova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5461" y="1737360"/>
            <a:ext cx="2567863" cy="182880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5461" y="1737360"/>
            <a:ext cx="2567863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6629" y="192024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4/4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6629" y="2157984"/>
            <a:ext cx="21655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국내 법규 · 제도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6629" y="2468880"/>
            <a:ext cx="2165527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IATF 16949 (자동차부품)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HACCP (식품)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스마트공장 수준확인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21 CFR Part 11 (감사추적)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862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8794A6"/>
                </a:solidFill>
                <a:latin typeface="맑은 고딕"/>
              </a:rPr>
              <a:t>각 항목은 “우리 시스템에 넣을 것 / 넣지 않을 것” 판단이 가능한 단위로 쪼갰다.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8794A6"/>
                </a:solidFill>
                <a:latin typeface="맑은 고딕"/>
              </a:rPr>
              <a:t>그 표가 그대로 요구사항정의서의 입력이 되었다.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846320"/>
            <a:ext cx="10881360" cy="347472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896612"/>
            <a:ext cx="2465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구분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1334" y="4896612"/>
            <a:ext cx="15947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MES 반영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1" y="4896612"/>
            <a:ext cx="14859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ERP 반영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4555" y="4896612"/>
            <a:ext cx="14859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FMS 반영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4896612"/>
            <a:ext cx="14859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2차 이월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8963" y="4896612"/>
            <a:ext cx="14859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제외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541264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244084"/>
            <a:ext cx="2465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0A9A5"/>
                </a:solidFill>
                <a:latin typeface="맑은 고딕"/>
              </a:rPr>
              <a:t>100건 분류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1334" y="5244084"/>
            <a:ext cx="15947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6C46B"/>
                </a:solidFill>
                <a:latin typeface="맑은 고딕"/>
              </a:rPr>
              <a:t>40건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2351" y="5244084"/>
            <a:ext cx="14859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32건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4555" y="5244084"/>
            <a:ext cx="14859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28건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59" y="5244084"/>
            <a:ext cx="14859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0A83A"/>
                </a:solidFill>
                <a:latin typeface="맑은 고딕"/>
              </a:rPr>
              <a:t>5건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8963" y="5244084"/>
            <a:ext cx="14859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2건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설계를 바꾼 조사 항목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100건 중 실제로 방향을 결정한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24228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373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① Plex MES 작업자 컨트롤 패널 동선을 그대로 차용 (조사 #18)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95224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자재확인 → 품질 셋업체크 → 공수 기록 → 공구수명 → 실적/수율 → SPC. 이미 현장에서 검증된 순서다. 여기에 4M 변경점 등록만 추가했다 (IATF 16949 대응).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738628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517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② 표준 용어를 그대로 번역해 메뉴에 걸지 않는다 (조사 #1~11)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86664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"Dispatching Production Units"를 직역해 걸면 현장에서 아무도 안 누른다. '작업배정', 'POP 현장단말' 같은 국내 통용어로 라벨링하고 표준 매핑은 문서에만 남겼다.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3028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5661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③ ISA-88 레시피는 Master / Control 2계층만 (조사 #87)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78104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General / Site / Master / Control 4계층 중 당사는 단일 사업장이므로 2단만 쓴다. 4계층을 다 넣으면 관리 부담만 커진다.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892040"/>
            <a:ext cx="36576" cy="91440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8920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4EAF2"/>
                </a:solidFill>
                <a:latin typeface="맑은 고딕"/>
              </a:rPr>
              <a:t>배합 레시피 구조 없이 MES 를 만들면 제품이 바뀔 때마다 개발자를 불러야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6052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— 2026-08-07 설계 검토 회의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00A9A5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4EAF2"/>
                </a:solidFill>
                <a:latin typeface="맑은 고딕"/>
              </a:rPr>
              <a:t>시스템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794A6"/>
                </a:solidFill>
                <a:latin typeface="맑은 고딕"/>
              </a:rPr>
              <a:t>ISA-95 Level 3 · 업무 화면 9종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시스템 계층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ISA-95 (IEC 62264) 기준 위치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783080"/>
            <a:ext cx="10881360" cy="73152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188720" cy="731520"/>
          </a:xfrm>
          <a:prstGeom prst="rect">
            <a:avLst/>
          </a:prstGeom>
          <a:solidFill>
            <a:srgbClr val="0F1419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20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8794A6"/>
                </a:solidFill>
                <a:latin typeface="Consolas"/>
              </a:rPr>
              <a:t>Level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91109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SH-ERP — 전사적자원관리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194560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수주 · 생산계획(MRP) · 구매 · 재고 · 원가 · 회계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651760"/>
            <a:ext cx="10881360" cy="731520"/>
          </a:xfrm>
          <a:prstGeom prst="rect">
            <a:avLst/>
          </a:prstGeom>
          <a:solidFill>
            <a:srgbClr val="171D26"/>
          </a:solidFill>
          <a:ln w="19050">
            <a:solidFill>
              <a:srgbClr val="00A9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651760"/>
            <a:ext cx="1188720" cy="731520"/>
          </a:xfrm>
          <a:prstGeom prst="rect">
            <a:avLst/>
          </a:prstGeom>
          <a:solidFill>
            <a:srgbClr val="0F1419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895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0A9A5"/>
                </a:solidFill>
                <a:latin typeface="Consolas"/>
              </a:rPr>
              <a:t>Level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7797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SH-MES — 제조실행시스템 (본 과제)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063240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작업지시 · 실적 · 품질 · 설비 · LOT 계보 · 배치 실행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20440"/>
            <a:ext cx="10881360" cy="73152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520440"/>
            <a:ext cx="1188720" cy="731520"/>
          </a:xfrm>
          <a:prstGeom prst="rect">
            <a:avLst/>
          </a:prstGeom>
          <a:solidFill>
            <a:srgbClr val="0F1419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5818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8794A6"/>
                </a:solidFill>
                <a:latin typeface="Consolas"/>
              </a:rPr>
              <a:t>Level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64845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SH-FMS — 통합 모니터링 / SCADA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931920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실시간 공정 감시 · 알람 · 트렌드 · CCTV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389119"/>
            <a:ext cx="10881360" cy="73152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389119"/>
            <a:ext cx="1188720" cy="731520"/>
          </a:xfrm>
          <a:prstGeom prst="rect">
            <a:avLst/>
          </a:prstGeom>
          <a:solidFill>
            <a:srgbClr val="0F1419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626863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8794A6"/>
                </a:solidFill>
                <a:latin typeface="Consolas"/>
              </a:rPr>
              <a:t>Level 1/0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517135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PLC · 센서 · 설비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800599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LS XGT / Mitsubishi MC / Modbus TCP → OPC UA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794A6"/>
                </a:solidFill>
                <a:latin typeface="맑은 고딕"/>
              </a:rPr>
              <a:t>API 필드명은 B2MML 어휘를 준수한다. 정식 XML 인터페이스는 2차 과제로 이월하고 1차는 REST + JSON.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업무 화면 9종과 MESA-11 매핑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표준 기능모델 11개 전부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10881360" cy="384048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41932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794A6"/>
                </a:solidFill>
                <a:latin typeface="맑은 고딕"/>
              </a:rPr>
              <a:t>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9130" y="1741932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794A6"/>
                </a:solidFill>
                <a:latin typeface="맑은 고딕"/>
              </a:rPr>
              <a:t>화면명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0656" y="1741932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794A6"/>
                </a:solidFill>
                <a:latin typeface="맑은 고딕"/>
              </a:rPr>
              <a:t>MESA-11 대응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98963" y="1741932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794A6"/>
                </a:solidFill>
                <a:latin typeface="맑은 고딕"/>
              </a:rPr>
              <a:t>우선순위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59736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5980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9130" y="2125980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생산 모니터링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0656" y="2125980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⑪ 성과분석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8963" y="2125980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5544B"/>
                </a:solidFill>
                <a:latin typeface="맑은 고딕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459736"/>
            <a:ext cx="10881360" cy="384048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43784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510028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29130" y="2510028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작업지시 관리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0656" y="2510028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③ 작업단위 배정(Dispatching)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8963" y="2510028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5544B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227832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894076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29130" y="2894076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작업배정 · 디스패칭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0656" y="2894076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① 상세일정  ② 자원배정 및 상태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98963" y="2894076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0A83A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227832"/>
            <a:ext cx="10881360" cy="384048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3611880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278124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29130" y="3278124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POP 현장단말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0656" y="3278124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⑤ 데이터수집  ⑥ 인력관리  ④ 문서관리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98963" y="3278124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5544B"/>
                </a:solidFill>
                <a:latin typeface="맑은 고딕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995928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3662172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29130" y="3662172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설비관리 · OEE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0656" y="3662172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② 자원상태  ⑨ 설비보전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8963" y="3662172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5544B"/>
                </a:solidFill>
                <a:latin typeface="맑은 고딕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3995928"/>
            <a:ext cx="10881360" cy="384048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4379976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4046220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29130" y="4046220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품질관리 · SPC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0656" y="4046220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⑦ 품질관리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98963" y="4046220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5544B"/>
                </a:solidFill>
                <a:latin typeface="맑은 고딕"/>
              </a:rPr>
              <a:t>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4764024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4430268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29130" y="4430268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배치 · 레시피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0656" y="4430268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⑧ 공정관리 + ISA-88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98963" y="4430268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0A83A"/>
                </a:solidFill>
                <a:latin typeface="맑은 고딕"/>
              </a:rPr>
              <a:t>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4764024"/>
            <a:ext cx="10881360" cy="384048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58368" y="5148072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9808" y="4814316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29130" y="4814316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LOT 추적 · 계보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40656" y="4814316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⑩ 제품추적 및 계보(Genealogy)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98963" y="4814316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E5544B"/>
                </a:solidFill>
                <a:latin typeface="맑은 고딕"/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5532120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5198364"/>
            <a:ext cx="83301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M-09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9130" y="5198364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성과분석 리포트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40656" y="5198364"/>
            <a:ext cx="55120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E4EAF2"/>
                </a:solidFill>
                <a:latin typeface="맑은 고딕"/>
              </a:rPr>
              <a:t>⑪ 성과분석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98963" y="5198364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794A6"/>
                </a:solidFill>
                <a:latin typeface="맑은 고딕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우선순위 1 = 오픈 필수 / 2 = 오픈 목표 / 3 = 안정화 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00A9A5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4EAF2"/>
                </a:solidFill>
                <a:latin typeface="맑은 고딕"/>
              </a:rPr>
              <a:t>주요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794A6"/>
                </a:solidFill>
                <a:latin typeface="맑은 고딕"/>
              </a:rPr>
              <a:t>현장이 실제로 쓰는 순서대로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M-04  POP 현장단말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가장 먼저 만들고 가장 많이 고친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737360"/>
            <a:ext cx="1721053" cy="86868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865376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A9A5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084832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작업지시 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04288"/>
            <a:ext cx="14650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바코드 / 목록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9149" y="1737360"/>
            <a:ext cx="1721053" cy="86868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7165" y="1865376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A9A5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7165" y="2084832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투입자재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7165" y="2304288"/>
            <a:ext cx="14650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LOT 스캔 검증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9930" y="1737360"/>
            <a:ext cx="1721053" cy="86868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7946" y="1865376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A9A5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7946" y="2084832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셋업 체크리스트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7946" y="2304288"/>
            <a:ext cx="14650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5개 항목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50711" y="1737360"/>
            <a:ext cx="1721053" cy="86868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8727" y="1865376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A9A5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2084832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작업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2304288"/>
            <a:ext cx="14650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비가동 사유코드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81492" y="1737360"/>
            <a:ext cx="1721053" cy="86868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9508" y="1865376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A9A5"/>
                </a:solidFill>
                <a:latin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9508" y="2084832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실적 등록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9508" y="2304288"/>
            <a:ext cx="14650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양품 / 불량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12273" y="1737360"/>
            <a:ext cx="1721053" cy="86868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40289" y="1865376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A9A5"/>
                </a:solidFill>
                <a:latin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40289" y="2084832"/>
            <a:ext cx="14650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4M 변경점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40289" y="2304288"/>
            <a:ext cx="14650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초물검사 자동요청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058668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29718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4EAF2"/>
                </a:solidFill>
                <a:latin typeface="맑은 고딕"/>
              </a:rPr>
              <a:t>에러프루핑 — 지시서에 없는 LOT 은 받지 않는다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31866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오투입 시 적색 경고와 함께 해당 자재는 확인 처리되지 않고, 작업시작 버튼이 활성화되지 않는다.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744468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36576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4EAF2"/>
                </a:solidFill>
                <a:latin typeface="맑은 고딕"/>
              </a:rPr>
              <a:t>게이트 — 자재확인과 셋업체크가 모두 끝나야 작업이 시작된다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" y="38724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체크리스트를 건너뛰고 시작하는 경로를 아예 만들지 않았다.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430268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3434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4EAF2"/>
                </a:solidFill>
                <a:latin typeface="맑은 고딕"/>
              </a:rPr>
              <a:t>터치 규격 — 주요 버튼 최소 56px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45582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현장 시연 중 오등록이 3건 발생해 실적 등록에 확인 단계를 한 번 더 넣었다. (2026-07-19)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116068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" y="50292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4EAF2"/>
                </a:solidFill>
                <a:latin typeface="맑은 고딕"/>
              </a:rPr>
              <a:t>공구 수명 — 90% 알림, 100% 도달 시 작업시작 차단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" y="52440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코팅 다이, 슬리터 나이프, 권취 샤프트를 사용량 기준으로 관리한다.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M-05  설비관리 · OEE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월말 수기 집계를 실시간 산출로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2028687" cy="105156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41148" cy="1051560"/>
          </a:xfrm>
          <a:prstGeom prst="rect">
            <a:avLst/>
          </a:prstGeom>
          <a:solidFill>
            <a:srgbClr val="E0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37944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시간가동률 (A)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66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4EAF2"/>
                </a:solidFill>
                <a:latin typeface="Consolas"/>
              </a:rPr>
              <a:t>88.4  %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468880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8794A6"/>
                </a:solidFill>
                <a:latin typeface="맑은 고딕"/>
              </a:rPr>
              <a:t>부하시간 대비 실가동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9935" y="1691640"/>
            <a:ext cx="2028687" cy="105156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69935" y="1691640"/>
            <a:ext cx="41148" cy="1051560"/>
          </a:xfrm>
          <a:prstGeom prst="rect">
            <a:avLst/>
          </a:prstGeom>
          <a:solidFill>
            <a:srgbClr val="E0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9391" y="1837944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성능가동률 (P)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9391" y="2075688"/>
            <a:ext cx="166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4EAF2"/>
                </a:solidFill>
                <a:latin typeface="Consolas"/>
              </a:rPr>
              <a:t>90.1  %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9391" y="2468880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8794A6"/>
                </a:solidFill>
                <a:latin typeface="맑은 고딕"/>
              </a:rPr>
              <a:t>설계 CT 대비 실제속도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1502" y="1691640"/>
            <a:ext cx="2028687" cy="105156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1502" y="1691640"/>
            <a:ext cx="41148" cy="1051560"/>
          </a:xfrm>
          <a:prstGeom prst="rect">
            <a:avLst/>
          </a:prstGeom>
          <a:solidFill>
            <a:srgbClr val="46C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0958" y="1837944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양품률 (Q)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0958" y="2075688"/>
            <a:ext cx="166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4EAF2"/>
                </a:solidFill>
                <a:latin typeface="Consolas"/>
              </a:rPr>
              <a:t>98.6  %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0958" y="2468880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8794A6"/>
                </a:solidFill>
                <a:latin typeface="맑은 고딕"/>
              </a:rPr>
              <a:t>투입 대비 양품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93069" y="1691640"/>
            <a:ext cx="2028687" cy="105156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93069" y="1691640"/>
            <a:ext cx="41148" cy="1051560"/>
          </a:xfrm>
          <a:prstGeom prst="rect">
            <a:avLst/>
          </a:prstGeom>
          <a:solidFill>
            <a:srgbClr val="E0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12525" y="1837944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종합 OEE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2525" y="2075688"/>
            <a:ext cx="166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4EAF2"/>
                </a:solidFill>
                <a:latin typeface="Consolas"/>
              </a:rPr>
              <a:t>78.5  %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2525" y="2468880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8794A6"/>
                </a:solidFill>
                <a:latin typeface="맑은 고딕"/>
              </a:rPr>
              <a:t>목표 85.0%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4636" y="1691640"/>
            <a:ext cx="2028687" cy="105156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04636" y="1691640"/>
            <a:ext cx="41148" cy="1051560"/>
          </a:xfrm>
          <a:prstGeom prst="rect">
            <a:avLst/>
          </a:prstGeom>
          <a:solidFill>
            <a:srgbClr val="E55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4092" y="1837944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총 손실시간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4092" y="2075688"/>
            <a:ext cx="16629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E4EAF2"/>
                </a:solidFill>
                <a:latin typeface="Consolas"/>
              </a:rPr>
              <a:t>788  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4092" y="2468880"/>
            <a:ext cx="16629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8794A6"/>
                </a:solidFill>
                <a:latin typeface="맑은 고딕"/>
              </a:rPr>
              <a:t>6대 로스 합계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17520"/>
            <a:ext cx="6035040" cy="274320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33856" y="3954634"/>
            <a:ext cx="512064" cy="1303166"/>
          </a:xfrm>
          <a:prstGeom prst="rect">
            <a:avLst/>
          </a:prstGeom>
          <a:solidFill>
            <a:srgbClr val="E0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" y="3716890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E4EAF2"/>
                </a:solidFill>
                <a:latin typeface="Consolas"/>
              </a:rPr>
              <a:t>186분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" y="5330952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고장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48256" y="3548270"/>
            <a:ext cx="512064" cy="1709530"/>
          </a:xfrm>
          <a:prstGeom prst="rect">
            <a:avLst/>
          </a:prstGeom>
          <a:solidFill>
            <a:srgbClr val="E55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65376" y="331052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E4EAF2"/>
                </a:solidFill>
                <a:latin typeface="Consolas"/>
              </a:rPr>
              <a:t>244분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5330952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셋업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2656" y="4578192"/>
            <a:ext cx="512064" cy="679608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79776" y="4340448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E4EAF2"/>
                </a:solidFill>
                <a:latin typeface="Consolas"/>
              </a:rPr>
              <a:t>97분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9776" y="5330952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순간정지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77056" y="4269916"/>
            <a:ext cx="512064" cy="98788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4032172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E4EAF2"/>
                </a:solidFill>
                <a:latin typeface="Consolas"/>
              </a:rPr>
              <a:t>141분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94176" y="5330952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속도저하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91456" y="4781374"/>
            <a:ext cx="512064" cy="476426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08576" y="4543630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E4EAF2"/>
                </a:solidFill>
                <a:latin typeface="Consolas"/>
              </a:rPr>
              <a:t>68분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576" y="5330952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공정불량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856" y="4893474"/>
            <a:ext cx="512064" cy="364326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22976" y="4655730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E4EAF2"/>
                </a:solidFill>
                <a:latin typeface="Consolas"/>
              </a:rPr>
              <a:t>52분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22976" y="5330952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초기수율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3720" y="30632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4EAF2"/>
                </a:solidFill>
                <a:latin typeface="맑은 고딕"/>
              </a:rPr>
              <a:t>TPM 6대 로스 분석 (금일 손실시간)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03720" y="3607308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04888" y="35204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작업준비·조정이 최대 손실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04888" y="373532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244분. 품목 변경 셋업 표준화가 1순위 개선과제.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03720" y="4265676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04888" y="417880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계획정지는 부하시간에서 제외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04888" y="43936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계획보전·식사시간. 생산팀 기존 집계 기준과 일치시켰다.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03720" y="4924044"/>
            <a:ext cx="68580" cy="6858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04888" y="483717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4EAF2"/>
                </a:solidFill>
                <a:latin typeface="맑은 고딕"/>
              </a:rPr>
              <a:t>비가동 사유코드 30종 → 12종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04888" y="50520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794A6"/>
                </a:solidFill>
                <a:latin typeface="맑은 고딕"/>
              </a:rPr>
              <a:t>너무 많으니 현장에서 '기타'만 눌렀다. 6대 로스 기준으로 통합.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M-06 품질 · M-07 배치 · M-08 추적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품질과 화학 공정, 그리고 계보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490874" cy="283464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3490874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M-06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품질관리 · SPC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423160"/>
            <a:ext cx="3088538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X-bar / R 관리도와 공정능력지수 Cp·Cpk 를 산출한다.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관리이탈 룰 4종(3σ 이탈, 연속 7점 편향, 연속 6점 경향,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연속 14점 교대)을 자동 판정한다.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중결함 판정 시 다음 공정 진행을 차단한다.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경결함은 경고 후 진행 허용 — 전부 막으면 라인이 선다.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0410" y="1691640"/>
            <a:ext cx="3490874" cy="283464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0410" y="1691640"/>
            <a:ext cx="3490874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1578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M-07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1578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배치 · 레시피 (ISA-88)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2423160"/>
            <a:ext cx="3088538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마스터 레시피에서 컨트롤 레시피를 인스턴스화해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배치를 실행한다. 페이즈 7단계(칭량→투입→승온→교반→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반응→냉각→배출) 진행과 설정값 대비 실적을 추적한다.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전자배치기록(EBR)에 누가·언제·무엇을 했는지 전부 남긴다.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2452" y="1691640"/>
            <a:ext cx="3490874" cy="283464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2452" y="1691640"/>
            <a:ext cx="3490874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3620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M-08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3620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LOT 추적 · 계보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3620" y="2423160"/>
            <a:ext cx="3088538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완제품 → 원료(역방향), 원료 → 출하처(정방향)를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트리로 조회한다. 각 노드에 공정·설비·작업자·일시가 붙는다.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특정 원자재 LOT 기준 리콜 영향범위(완제품 LOT,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거래처, 수량)를 즉시 산출한다.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36576" cy="91440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8920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4EAF2"/>
                </a:solidFill>
                <a:latin typeface="맑은 고딕"/>
              </a:rPr>
              <a:t>이 화면 하나로 고객사 품질감사 대응 시간을 2~3일에서 10분 이내로 줄이는 것이 목표다.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00A9A5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4EAF2"/>
                </a:solidFill>
                <a:latin typeface="맑은 고딕"/>
              </a:rPr>
              <a:t>기대 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794A6"/>
                </a:solidFill>
                <a:latin typeface="맑은 고딕"/>
              </a:rPr>
              <a:t>측정 가능한 목표와 잔여 과제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기대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오픈 후 3개월 안정화 기간을 거쳐 측정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10881360" cy="384048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41932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4216" y="1741932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현재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8115" y="1741932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7268" y="1741932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측정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59736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5980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LOT 추적 소요시간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4216" y="2125980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5544B"/>
                </a:solidFill>
                <a:latin typeface="맑은 고딕"/>
              </a:rPr>
              <a:t>2~3일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8115" y="2125980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6C46B"/>
                </a:solidFill>
                <a:latin typeface="맑은 고딕"/>
              </a:rPr>
              <a:t>10분 이내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7268" y="2125980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첫 고객감사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459736"/>
            <a:ext cx="10881360" cy="384048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43784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510028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OEE 집계 주기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6" y="2510028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5544B"/>
                </a:solidFill>
                <a:latin typeface="맑은 고딕"/>
              </a:rPr>
              <a:t>월 1회 (수기)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115" y="2510028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6C46B"/>
                </a:solidFill>
                <a:latin typeface="맑은 고딕"/>
              </a:rPr>
              <a:t>실시간 자동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7268" y="2510028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오픈 즉시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227832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894076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실적 입력 지점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4216" y="2894076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5544B"/>
                </a:solidFill>
                <a:latin typeface="맑은 고딕"/>
              </a:rPr>
              <a:t>3개소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8115" y="2894076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6C46B"/>
                </a:solidFill>
                <a:latin typeface="맑은 고딕"/>
              </a:rPr>
              <a:t>1개소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7268" y="2894076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오픈 즉시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227832"/>
            <a:ext cx="10881360" cy="384048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3611880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278124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배합 지시 방식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14216" y="3278124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5544B"/>
                </a:solidFill>
                <a:latin typeface="맑은 고딕"/>
              </a:rPr>
              <a:t>엑셀 배합지시서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8115" y="3278124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6C46B"/>
                </a:solidFill>
                <a:latin typeface="맑은 고딕"/>
              </a:rPr>
              <a:t>컨트롤 레시피 자동생성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7268" y="3278124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레시피 표준화 완료분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995928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3662172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평균 불량률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216" y="3662172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0A83A"/>
                </a:solidFill>
                <a:latin typeface="맑은 고딕"/>
              </a:rPr>
              <a:t>1.42 %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8115" y="3662172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6C46B"/>
                </a:solidFill>
                <a:latin typeface="맑은 고딕"/>
              </a:rPr>
              <a:t>1.20 % 이하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7268" y="3662172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오픈 +3개월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3995928"/>
            <a:ext cx="10881360" cy="384048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4379976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4046220"/>
            <a:ext cx="311810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종합 OEE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216" y="4046220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0A83A"/>
                </a:solidFill>
                <a:latin typeface="맑은 고딕"/>
              </a:rPr>
              <a:t>72.6 %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8115" y="4046220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6C46B"/>
                </a:solidFill>
                <a:latin typeface="맑은 고딕"/>
              </a:rPr>
              <a:t>80 % 이상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7268" y="4046220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오픈 +6개월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4572000"/>
            <a:ext cx="36576" cy="91440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45720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4EAF2"/>
                </a:solidFill>
                <a:latin typeface="맑은 고딕"/>
              </a:rPr>
              <a:t>불량률과 OEE 목표는 시스템 도입만으로 달성되지 않는다.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4EAF2"/>
                </a:solidFill>
                <a:latin typeface="맑은 고딕"/>
              </a:rPr>
              <a:t>성과분석 화면의 파레토·SPC 결과를 주간 생산회의 안건으로 운영하는 것이 전제다.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" y="528523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— 이 운영 전제를 문서에 함께 남겼다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E4EAF2"/>
                </a:solidFill>
                <a:latin typeface="맑은 고딕"/>
              </a:rPr>
              <a:t>잔여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794A6"/>
                </a:solidFill>
                <a:latin typeface="맑은 고딕"/>
              </a:rPr>
              <a:t>1차 마무리와 2차 검토 항목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794A6"/>
                </a:solidFill>
                <a:latin typeface="Consolas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794A6"/>
                </a:solidFill>
                <a:latin typeface="맑은 고딕"/>
              </a:rPr>
              <a:t>SH-MES-RPT-2026-001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737360"/>
            <a:ext cx="5336895" cy="237744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5336895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20240"/>
            <a:ext cx="493455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진행 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57984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1차 잔여 (10월)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468880"/>
            <a:ext cx="4934559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ERP 연계 인터페이스 6종 개발 및 검증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설비 PLC 태그 매핑 2건 (AS-02, PK-01)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단위테스트 시나리오 42건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목업 → REST API 전환 및 데이터 대사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현장 관점 사용성 점검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737360"/>
            <a:ext cx="5336895" cy="2377440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737360"/>
            <a:ext cx="5336895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920240"/>
            <a:ext cx="493455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A9A5"/>
                </a:solidFill>
                <a:latin typeface="Consolas"/>
              </a:rPr>
              <a:t>이월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7599" y="2157984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4EAF2"/>
                </a:solidFill>
                <a:latin typeface="맑은 고딕"/>
              </a:rPr>
              <a:t>2차 과제 (2027 상반기 검토)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468880"/>
            <a:ext cx="4934559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APS 최적화 솔버 기반 유한능력 스케줄링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진동·온도 기반 예지보전 (데이터 1년치 확보 후)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B2MML 정식 XML 인터페이스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· 아산2공장 확산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34840"/>
            <a:ext cx="10881360" cy="347472"/>
          </a:xfrm>
          <a:prstGeom prst="rect">
            <a:avLst/>
          </a:prstGeom>
          <a:solidFill>
            <a:srgbClr val="171D26"/>
          </a:solidFill>
          <a:ln w="12700">
            <a:solidFill>
              <a:srgbClr val="27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5132"/>
            <a:ext cx="2465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구분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1334" y="4485132"/>
            <a:ext cx="812352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794A6"/>
                </a:solidFill>
                <a:latin typeface="맑은 고딕"/>
              </a:rPr>
              <a:t>내용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129784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832604"/>
            <a:ext cx="2465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업무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1334" y="4832604"/>
            <a:ext cx="812352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9종 (인트로 · 로그인 포함 11개 페이지)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129784"/>
            <a:ext cx="10881360" cy="347472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5477256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180076"/>
            <a:ext cx="2465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공통 모듈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1334" y="5180076"/>
            <a:ext cx="812352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레이아웃/메뉴, 세션·권한, SVG 차트 5종, 목업 데이터셋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24728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27548"/>
            <a:ext cx="2465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문서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1334" y="5527548"/>
            <a:ext cx="812352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4EAF2"/>
                </a:solidFill>
                <a:latin typeface="맑은 고딕"/>
              </a:rPr>
              <a:t>사전조사(100건) · 작업지시서 · 요구사항 · 화면설계 · 보고서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824728"/>
            <a:ext cx="10881360" cy="347472"/>
          </a:xfrm>
          <a:prstGeom prst="rect">
            <a:avLst/>
          </a:prstGeom>
          <a:solidFill>
            <a:srgbClr val="171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6172200"/>
            <a:ext cx="10881360" cy="9144"/>
          </a:xfrm>
          <a:prstGeom prst="rect">
            <a:avLst/>
          </a:prstGeom>
          <a:solidFill>
            <a:srgbClr val="27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875020"/>
            <a:ext cx="246522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0A9A5"/>
                </a:solidFill>
                <a:latin typeface="맑은 고딕"/>
              </a:rPr>
              <a:t>외부 의존성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1334" y="5875020"/>
            <a:ext cx="812352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0A9A5"/>
                </a:solidFill>
                <a:latin typeface="맑은 고딕"/>
              </a:rPr>
              <a:t>없음 — 프레임워크 · 차트 라이브러리 · CDN 미사용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4EAF2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971800"/>
            <a:ext cx="914400" cy="32004"/>
          </a:xfrm>
          <a:prstGeom prst="rect">
            <a:avLst/>
          </a:prstGeom>
          <a:solidFill>
            <a:srgbClr val="00A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9601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8794A6"/>
                </a:solidFill>
                <a:latin typeface="맑은 고딕"/>
              </a:rPr>
              <a:t>만든 사람 : 남성흠  ·  프로젝트SH (개인 프로젝트)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8794A6"/>
                </a:solidFill>
                <a:latin typeface="맑은 고딕"/>
              </a:rPr>
              <a:t>첨부 : 사전조사 보고서(100건) · 작업지시서 · 요구사항정의서 · 화면설계서 · 프로젝트 보고서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943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794A6"/>
                </a:solidFill>
                <a:latin typeface="맑은 고딕"/>
              </a:rPr>
              <a:t>SH-MES v2.4 · 화성1공장 제조실행시스템 · SH-MES-RPT-2026-001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